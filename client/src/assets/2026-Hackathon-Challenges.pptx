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61662" y="0"/>
            <a:ext cx="15430500" cy="10287000"/>
          </a:xfrm>
          <a:custGeom>
            <a:avLst/>
            <a:gdLst/>
            <a:ahLst/>
            <a:cxnLst/>
            <a:rect r="r" b="b" t="t" l="l"/>
            <a:pathLst>
              <a:path h="10287000" w="15430500">
                <a:moveTo>
                  <a:pt x="0" y="0"/>
                </a:moveTo>
                <a:lnTo>
                  <a:pt x="15430500" y="0"/>
                </a:lnTo>
                <a:lnTo>
                  <a:pt x="154305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0"/>
            <a:ext cx="1461662" cy="10287000"/>
          </a:xfrm>
          <a:custGeom>
            <a:avLst/>
            <a:gdLst/>
            <a:ahLst/>
            <a:cxnLst/>
            <a:rect r="r" b="b" t="t" l="l"/>
            <a:pathLst>
              <a:path h="10287000" w="1461662">
                <a:moveTo>
                  <a:pt x="0" y="0"/>
                </a:moveTo>
                <a:lnTo>
                  <a:pt x="1461662" y="0"/>
                </a:lnTo>
                <a:lnTo>
                  <a:pt x="1461662" y="10287000"/>
                </a:lnTo>
                <a:lnTo>
                  <a:pt x="0" y="10287000"/>
                </a:lnTo>
                <a:lnTo>
                  <a:pt x="0" y="0"/>
                </a:lnTo>
                <a:close/>
              </a:path>
            </a:pathLst>
          </a:custGeom>
          <a:blipFill>
            <a:blip r:embed="rId3"/>
            <a:stretch>
              <a:fillRect l="0" t="0" r="0" b="0"/>
            </a:stretch>
          </a:blipFill>
        </p:spPr>
      </p:sp>
      <p:sp>
        <p:nvSpPr>
          <p:cNvPr name="Freeform 4" id="4"/>
          <p:cNvSpPr/>
          <p:nvPr/>
        </p:nvSpPr>
        <p:spPr>
          <a:xfrm flipH="false" flipV="false" rot="-10800000">
            <a:off x="16892162" y="0"/>
            <a:ext cx="1461662" cy="10287000"/>
          </a:xfrm>
          <a:custGeom>
            <a:avLst/>
            <a:gdLst/>
            <a:ahLst/>
            <a:cxnLst/>
            <a:rect r="r" b="b" t="t" l="l"/>
            <a:pathLst>
              <a:path h="10287000" w="1461662">
                <a:moveTo>
                  <a:pt x="0" y="0"/>
                </a:moveTo>
                <a:lnTo>
                  <a:pt x="1461662" y="0"/>
                </a:lnTo>
                <a:lnTo>
                  <a:pt x="1461662" y="10287000"/>
                </a:lnTo>
                <a:lnTo>
                  <a:pt x="0" y="10287000"/>
                </a:lnTo>
                <a:lnTo>
                  <a:pt x="0" y="0"/>
                </a:lnTo>
                <a:close/>
              </a:path>
            </a:pathLst>
          </a:custGeom>
          <a:blipFill>
            <a:blip r:embed="rId3"/>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461662" cy="10287000"/>
          </a:xfrm>
          <a:custGeom>
            <a:avLst/>
            <a:gdLst/>
            <a:ahLst/>
            <a:cxnLst/>
            <a:rect r="r" b="b" t="t" l="l"/>
            <a:pathLst>
              <a:path h="10287000" w="1461662">
                <a:moveTo>
                  <a:pt x="0" y="0"/>
                </a:moveTo>
                <a:lnTo>
                  <a:pt x="1461662" y="0"/>
                </a:lnTo>
                <a:lnTo>
                  <a:pt x="1461662"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10800000">
            <a:off x="16892162" y="0"/>
            <a:ext cx="1461662" cy="10287000"/>
          </a:xfrm>
          <a:custGeom>
            <a:avLst/>
            <a:gdLst/>
            <a:ahLst/>
            <a:cxnLst/>
            <a:rect r="r" b="b" t="t" l="l"/>
            <a:pathLst>
              <a:path h="10287000" w="1461662">
                <a:moveTo>
                  <a:pt x="0" y="0"/>
                </a:moveTo>
                <a:lnTo>
                  <a:pt x="1461662" y="0"/>
                </a:lnTo>
                <a:lnTo>
                  <a:pt x="1461662" y="10287000"/>
                </a:lnTo>
                <a:lnTo>
                  <a:pt x="0" y="10287000"/>
                </a:lnTo>
                <a:lnTo>
                  <a:pt x="0" y="0"/>
                </a:lnTo>
                <a:close/>
              </a:path>
            </a:pathLst>
          </a:custGeom>
          <a:blipFill>
            <a:blip r:embed="rId2"/>
            <a:stretch>
              <a:fillRect l="0" t="0" r="0" b="0"/>
            </a:stretch>
          </a:blipFill>
        </p:spPr>
      </p:sp>
      <p:sp>
        <p:nvSpPr>
          <p:cNvPr name="Freeform 4" id="4"/>
          <p:cNvSpPr/>
          <p:nvPr/>
        </p:nvSpPr>
        <p:spPr>
          <a:xfrm flipH="false" flipV="false" rot="0">
            <a:off x="1461662" y="0"/>
            <a:ext cx="15430500" cy="10287000"/>
          </a:xfrm>
          <a:custGeom>
            <a:avLst/>
            <a:gdLst/>
            <a:ahLst/>
            <a:cxnLst/>
            <a:rect r="r" b="b" t="t" l="l"/>
            <a:pathLst>
              <a:path h="10287000" w="15430500">
                <a:moveTo>
                  <a:pt x="0" y="0"/>
                </a:moveTo>
                <a:lnTo>
                  <a:pt x="15430500" y="0"/>
                </a:lnTo>
                <a:lnTo>
                  <a:pt x="15430500" y="10287000"/>
                </a:lnTo>
                <a:lnTo>
                  <a:pt x="0" y="10287000"/>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461662" cy="10287000"/>
          </a:xfrm>
          <a:custGeom>
            <a:avLst/>
            <a:gdLst/>
            <a:ahLst/>
            <a:cxnLst/>
            <a:rect r="r" b="b" t="t" l="l"/>
            <a:pathLst>
              <a:path h="10287000" w="1461662">
                <a:moveTo>
                  <a:pt x="0" y="0"/>
                </a:moveTo>
                <a:lnTo>
                  <a:pt x="1461662" y="0"/>
                </a:lnTo>
                <a:lnTo>
                  <a:pt x="1461662"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10800000">
            <a:off x="16892162" y="0"/>
            <a:ext cx="1461662" cy="10287000"/>
          </a:xfrm>
          <a:custGeom>
            <a:avLst/>
            <a:gdLst/>
            <a:ahLst/>
            <a:cxnLst/>
            <a:rect r="r" b="b" t="t" l="l"/>
            <a:pathLst>
              <a:path h="10287000" w="1461662">
                <a:moveTo>
                  <a:pt x="0" y="0"/>
                </a:moveTo>
                <a:lnTo>
                  <a:pt x="1461662" y="0"/>
                </a:lnTo>
                <a:lnTo>
                  <a:pt x="1461662" y="10287000"/>
                </a:lnTo>
                <a:lnTo>
                  <a:pt x="0" y="10287000"/>
                </a:lnTo>
                <a:lnTo>
                  <a:pt x="0" y="0"/>
                </a:lnTo>
                <a:close/>
              </a:path>
            </a:pathLst>
          </a:custGeom>
          <a:blipFill>
            <a:blip r:embed="rId2"/>
            <a:stretch>
              <a:fillRect l="0" t="0" r="0" b="0"/>
            </a:stretch>
          </a:blipFill>
        </p:spPr>
      </p:sp>
      <p:sp>
        <p:nvSpPr>
          <p:cNvPr name="Freeform 4" id="4"/>
          <p:cNvSpPr/>
          <p:nvPr/>
        </p:nvSpPr>
        <p:spPr>
          <a:xfrm flipH="false" flipV="false" rot="0">
            <a:off x="1461662" y="0"/>
            <a:ext cx="15430500" cy="10287000"/>
          </a:xfrm>
          <a:custGeom>
            <a:avLst/>
            <a:gdLst/>
            <a:ahLst/>
            <a:cxnLst/>
            <a:rect r="r" b="b" t="t" l="l"/>
            <a:pathLst>
              <a:path h="10287000" w="15430500">
                <a:moveTo>
                  <a:pt x="0" y="0"/>
                </a:moveTo>
                <a:lnTo>
                  <a:pt x="15430500" y="0"/>
                </a:lnTo>
                <a:lnTo>
                  <a:pt x="15430500" y="10287000"/>
                </a:lnTo>
                <a:lnTo>
                  <a:pt x="0" y="10287000"/>
                </a:lnTo>
                <a:lnTo>
                  <a:pt x="0" y="0"/>
                </a:lnTo>
                <a:close/>
              </a:path>
            </a:pathLst>
          </a:custGeom>
          <a:blipFill>
            <a:blip r:embed="rId3"/>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461662" cy="10287000"/>
          </a:xfrm>
          <a:custGeom>
            <a:avLst/>
            <a:gdLst/>
            <a:ahLst/>
            <a:cxnLst/>
            <a:rect r="r" b="b" t="t" l="l"/>
            <a:pathLst>
              <a:path h="10287000" w="1461662">
                <a:moveTo>
                  <a:pt x="0" y="0"/>
                </a:moveTo>
                <a:lnTo>
                  <a:pt x="1461662" y="0"/>
                </a:lnTo>
                <a:lnTo>
                  <a:pt x="1461662"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10800000">
            <a:off x="16892162" y="0"/>
            <a:ext cx="1461662" cy="10287000"/>
          </a:xfrm>
          <a:custGeom>
            <a:avLst/>
            <a:gdLst/>
            <a:ahLst/>
            <a:cxnLst/>
            <a:rect r="r" b="b" t="t" l="l"/>
            <a:pathLst>
              <a:path h="10287000" w="1461662">
                <a:moveTo>
                  <a:pt x="0" y="0"/>
                </a:moveTo>
                <a:lnTo>
                  <a:pt x="1461662" y="0"/>
                </a:lnTo>
                <a:lnTo>
                  <a:pt x="1461662" y="10287000"/>
                </a:lnTo>
                <a:lnTo>
                  <a:pt x="0" y="10287000"/>
                </a:lnTo>
                <a:lnTo>
                  <a:pt x="0" y="0"/>
                </a:lnTo>
                <a:close/>
              </a:path>
            </a:pathLst>
          </a:custGeom>
          <a:blipFill>
            <a:blip r:embed="rId2"/>
            <a:stretch>
              <a:fillRect l="0" t="0" r="0" b="0"/>
            </a:stretch>
          </a:blipFill>
        </p:spPr>
      </p:sp>
      <p:sp>
        <p:nvSpPr>
          <p:cNvPr name="Freeform 4" id="4"/>
          <p:cNvSpPr/>
          <p:nvPr/>
        </p:nvSpPr>
        <p:spPr>
          <a:xfrm flipH="false" flipV="false" rot="0">
            <a:off x="1461662" y="0"/>
            <a:ext cx="15430500" cy="10287000"/>
          </a:xfrm>
          <a:custGeom>
            <a:avLst/>
            <a:gdLst/>
            <a:ahLst/>
            <a:cxnLst/>
            <a:rect r="r" b="b" t="t" l="l"/>
            <a:pathLst>
              <a:path h="10287000" w="15430500">
                <a:moveTo>
                  <a:pt x="0" y="0"/>
                </a:moveTo>
                <a:lnTo>
                  <a:pt x="15430500" y="0"/>
                </a:lnTo>
                <a:lnTo>
                  <a:pt x="15430500" y="10287000"/>
                </a:lnTo>
                <a:lnTo>
                  <a:pt x="0" y="10287000"/>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461662" cy="10287000"/>
          </a:xfrm>
          <a:custGeom>
            <a:avLst/>
            <a:gdLst/>
            <a:ahLst/>
            <a:cxnLst/>
            <a:rect r="r" b="b" t="t" l="l"/>
            <a:pathLst>
              <a:path h="10287000" w="1461662">
                <a:moveTo>
                  <a:pt x="0" y="0"/>
                </a:moveTo>
                <a:lnTo>
                  <a:pt x="1461662" y="0"/>
                </a:lnTo>
                <a:lnTo>
                  <a:pt x="1461662"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10800000">
            <a:off x="16892162" y="0"/>
            <a:ext cx="1461662" cy="10287000"/>
          </a:xfrm>
          <a:custGeom>
            <a:avLst/>
            <a:gdLst/>
            <a:ahLst/>
            <a:cxnLst/>
            <a:rect r="r" b="b" t="t" l="l"/>
            <a:pathLst>
              <a:path h="10287000" w="1461662">
                <a:moveTo>
                  <a:pt x="0" y="0"/>
                </a:moveTo>
                <a:lnTo>
                  <a:pt x="1461662" y="0"/>
                </a:lnTo>
                <a:lnTo>
                  <a:pt x="1461662" y="10287000"/>
                </a:lnTo>
                <a:lnTo>
                  <a:pt x="0" y="10287000"/>
                </a:lnTo>
                <a:lnTo>
                  <a:pt x="0" y="0"/>
                </a:lnTo>
                <a:close/>
              </a:path>
            </a:pathLst>
          </a:custGeom>
          <a:blipFill>
            <a:blip r:embed="rId2"/>
            <a:stretch>
              <a:fillRect l="0" t="0" r="0" b="0"/>
            </a:stretch>
          </a:blipFill>
        </p:spPr>
      </p:sp>
      <p:sp>
        <p:nvSpPr>
          <p:cNvPr name="Freeform 4" id="4"/>
          <p:cNvSpPr/>
          <p:nvPr/>
        </p:nvSpPr>
        <p:spPr>
          <a:xfrm flipH="false" flipV="false" rot="0">
            <a:off x="1461662" y="0"/>
            <a:ext cx="15430500" cy="10287000"/>
          </a:xfrm>
          <a:custGeom>
            <a:avLst/>
            <a:gdLst/>
            <a:ahLst/>
            <a:cxnLst/>
            <a:rect r="r" b="b" t="t" l="l"/>
            <a:pathLst>
              <a:path h="10287000" w="15430500">
                <a:moveTo>
                  <a:pt x="0" y="0"/>
                </a:moveTo>
                <a:lnTo>
                  <a:pt x="15430500" y="0"/>
                </a:lnTo>
                <a:lnTo>
                  <a:pt x="15430500" y="10287000"/>
                </a:lnTo>
                <a:lnTo>
                  <a:pt x="0" y="10287000"/>
                </a:lnTo>
                <a:lnTo>
                  <a:pt x="0" y="0"/>
                </a:lnTo>
                <a:close/>
              </a:path>
            </a:pathLst>
          </a:custGeom>
          <a:blipFill>
            <a:blip r:embed="rId3"/>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DAHXMLp4oaY</dc:identifier>
  <dcterms:modified xsi:type="dcterms:W3CDTF">2011-08-01T06:04:30Z</dcterms:modified>
  <cp:revision>1</cp:revision>
  <dc:title>a. WATER ECONOMICS Water is a basic necessity, but it is also an economic resource. It requires investment to develop, treat, distribute, maintain, and regulate. At the same time, households, farmers, fisherfolk, businesses, and other users depend on</dc:title>
</cp:coreProperties>
</file>